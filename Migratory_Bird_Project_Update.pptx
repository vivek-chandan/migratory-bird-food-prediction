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Migratory Bird Stopover Quality Index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1"/>
            </a:pPr>
            <a:r>
              <a:t>Project Update Presentation</a:t>
            </a:r>
          </a:p>
          <a:p>
            <a:br/>
            <a:br/>
            <a:pPr>
              <a:defRPr sz="1800" b="1"/>
            </a:pPr>
            <a:r>
              <a:t>Presented By:</a:t>
            </a:r>
          </a:p>
          <a:p>
            <a:pPr>
              <a:defRPr sz="1600"/>
            </a:pPr>
            <a:r>
              <a:t>Vivek Kumar Chandan (2024201032)</a:t>
            </a:r>
          </a:p>
          <a:p>
            <a:pPr>
              <a:defRPr sz="1600"/>
            </a:pPr>
            <a:r>
              <a:t>Abhishek Gupta (2024201050)</a:t>
            </a:r>
          </a:p>
          <a:p>
            <a:br/>
            <a:br/>
            <a:pPr>
              <a:defRPr sz="1600" i="1"/>
            </a:pPr>
            <a:r>
              <a:t>Supervisor: Dr. Rama Chandra Pillutla</a:t>
            </a:r>
          </a:p>
          <a:p>
            <a:pPr>
              <a:defRPr sz="1600" i="1"/>
            </a:pPr>
            <a:r>
              <a:t>IIIT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Objective:</a:t>
            </a:r>
          </a:p>
          <a:p>
            <a:pPr lvl="1">
              <a:defRPr sz="1600"/>
            </a:pPr>
            <a:r>
              <a:t>Develop a Migratory Bird Stopover Quality Index to quantify food and habitat availability at stopover sites during peak migration months.</a:t>
            </a:r>
          </a:p>
          <a:p>
            <a:br/>
            <a:pPr>
              <a:defRPr sz="2000" b="1">
                <a:solidFill>
                  <a:srgbClr val="003366"/>
                </a:solidFill>
              </a:defRPr>
            </a:pPr>
            <a:r>
              <a:t>Key Goals:</a:t>
            </a:r>
          </a:p>
          <a:p>
            <a:pPr lvl="1">
              <a:defRPr sz="1400"/>
            </a:pPr>
            <a:r>
              <a:t>Analyze eBird migratory species data with NDVI vegetation indices</a:t>
            </a:r>
          </a:p>
          <a:p>
            <a:pPr lvl="1">
              <a:defRPr sz="1400"/>
            </a:pPr>
            <a:r>
              <a:t>Identify critical stopover locations for migratory birds</a:t>
            </a:r>
          </a:p>
          <a:p>
            <a:pPr lvl="1">
              <a:defRPr sz="1400"/>
            </a:pPr>
            <a:r>
              <a:t>Quantify habitat quality based on vegetation greenness</a:t>
            </a:r>
          </a:p>
          <a:p>
            <a:pPr lvl="1">
              <a:defRPr sz="1400"/>
            </a:pPr>
            <a:r>
              <a:t>Detect declining stopover zones</a:t>
            </a:r>
          </a:p>
          <a:p>
            <a:pPr lvl="1">
              <a:defRPr sz="1400"/>
            </a:pPr>
            <a:r>
              <a:t>Focus on understudied areas in global migration maps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Collection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Primary Datasets Identified:</a:t>
            </a:r>
          </a:p>
          <a:p>
            <a:pPr lvl="1">
              <a:defRPr sz="1400" b="1"/>
            </a:pPr>
            <a:r>
              <a:t>eBird Basic Dataset (EBD)</a:t>
            </a:r>
          </a:p>
          <a:p>
            <a:pPr lvl="2">
              <a:defRPr sz="1200"/>
            </a:pPr>
            <a:r>
              <a:t>Global bird observation data from Cornell Lab - ✓ Access Obtained</a:t>
            </a:r>
          </a:p>
          <a:p>
            <a:pPr lvl="1">
              <a:defRPr sz="1400" b="1"/>
            </a:pPr>
            <a:r>
              <a:t>MODIS NDVI (MOD13Q1)</a:t>
            </a:r>
          </a:p>
          <a:p>
            <a:pPr lvl="2">
              <a:defRPr sz="1200"/>
            </a:pPr>
            <a:r>
              <a:t>250m vegetation indices from NASA - ✓ Access Configured</a:t>
            </a:r>
          </a:p>
          <a:p>
            <a:pPr lvl="1">
              <a:defRPr sz="1400" b="1"/>
            </a:pPr>
            <a:r>
              <a:t>Important Bird Areas (IBA)</a:t>
            </a:r>
          </a:p>
          <a:p>
            <a:pPr lvl="2">
              <a:defRPr sz="1200"/>
            </a:pPr>
            <a:r>
              <a:t>Critical stopover sites from BirdLife International - ✓ Documented</a:t>
            </a:r>
          </a:p>
          <a:p>
            <a:pPr lvl="1">
              <a:defRPr sz="1400" b="1"/>
            </a:pPr>
            <a:r>
              <a:t>Landsat/Sentinel-2 NDVI</a:t>
            </a:r>
          </a:p>
          <a:p>
            <a:pPr lvl="2">
              <a:defRPr sz="1200"/>
            </a:pPr>
            <a:r>
              <a:t>High-resolution vegetation data (30m/10m) - ✓ Available</a:t>
            </a:r>
          </a:p>
          <a:p>
            <a:pPr lvl="1">
              <a:defRPr sz="1400" b="1"/>
            </a:pPr>
            <a:r>
              <a:t>ESA Land Cover Data</a:t>
            </a:r>
          </a:p>
          <a:p>
            <a:pPr lvl="2">
              <a:defRPr sz="1200"/>
            </a:pPr>
            <a:r>
              <a:t>Habitat classification for stopover sites - ✓ Identified</a:t>
            </a:r>
          </a:p>
          <a:p>
            <a:pPr lvl="1">
              <a:defRPr sz="1400" b="1"/>
            </a:pPr>
            <a:r>
              <a:t>WorldClim</a:t>
            </a:r>
          </a:p>
          <a:p>
            <a:pPr lvl="2">
              <a:defRPr sz="1200"/>
            </a:pPr>
            <a:r>
              <a:t>Climate data for environmental analysis - ✓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Data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C0000"/>
                </a:solidFill>
              </a:defRPr>
            </a:pPr>
            <a:r>
              <a:t>eBird Data Attributes:</a:t>
            </a:r>
          </a:p>
          <a:p>
            <a:pPr lvl="1">
              <a:defRPr sz="1200"/>
            </a:pPr>
            <a:r>
              <a:t>Species Name (Common &amp; Scientific)</a:t>
            </a:r>
          </a:p>
          <a:p>
            <a:pPr lvl="1">
              <a:defRPr sz="1200"/>
            </a:pPr>
            <a:r>
              <a:t>Observation Date &amp; Time (Migration timing)</a:t>
            </a:r>
          </a:p>
          <a:p>
            <a:pPr lvl="1">
              <a:defRPr sz="1200"/>
            </a:pPr>
            <a:r>
              <a:t>Geographic Coordinates (Latitude, Longitude)</a:t>
            </a:r>
          </a:p>
          <a:p>
            <a:pPr lvl="1">
              <a:defRPr sz="1200"/>
            </a:pPr>
            <a:r>
              <a:t>Bird Count (Abundance data)</a:t>
            </a:r>
          </a:p>
          <a:p>
            <a:pPr lvl="1">
              <a:defRPr sz="1200"/>
            </a:pPr>
            <a:r>
              <a:t>Observer Effort (Protocol type, duration)</a:t>
            </a:r>
          </a:p>
          <a:p>
            <a:br/>
            <a:pPr>
              <a:defRPr sz="1600" b="1">
                <a:solidFill>
                  <a:srgbClr val="009900"/>
                </a:solidFill>
              </a:defRPr>
            </a:pPr>
            <a:r>
              <a:t>NDVI Data Attributes:</a:t>
            </a:r>
          </a:p>
          <a:p>
            <a:pPr lvl="1">
              <a:defRPr sz="1200"/>
            </a:pPr>
            <a:r>
              <a:t>Vegetation Index Values (NDVI, EVI)</a:t>
            </a:r>
          </a:p>
          <a:p>
            <a:pPr lvl="1">
              <a:defRPr sz="1200"/>
            </a:pPr>
            <a:r>
              <a:t>Spatial Resolution (10m - 250m)</a:t>
            </a:r>
          </a:p>
          <a:p>
            <a:pPr lvl="1">
              <a:defRPr sz="1200"/>
            </a:pPr>
            <a:r>
              <a:t>Temporal Coverage (16-day composites)</a:t>
            </a:r>
          </a:p>
          <a:p>
            <a:pPr lvl="1">
              <a:defRPr sz="1200"/>
            </a:pPr>
            <a:r>
              <a:t>Quality Assurance Flags</a:t>
            </a:r>
          </a:p>
          <a:p>
            <a:pPr lvl="1">
              <a:defRPr sz="1200"/>
            </a:pPr>
            <a:r>
              <a:t>Time Series Data (2000-present)</a:t>
            </a:r>
          </a:p>
          <a:p>
            <a:br/>
            <a:pPr>
              <a:defRPr sz="1600" b="1">
                <a:solidFill>
                  <a:srgbClr val="0066CC"/>
                </a:solidFill>
              </a:defRPr>
            </a:pPr>
            <a:r>
              <a:t>Habitat &amp; Environmental Attributes:</a:t>
            </a:r>
          </a:p>
          <a:p>
            <a:pPr lvl="1">
              <a:defRPr sz="1200"/>
            </a:pPr>
            <a:r>
              <a:t>Land Cover Classification (22 classes)</a:t>
            </a:r>
          </a:p>
          <a:p>
            <a:pPr lvl="1">
              <a:defRPr sz="1200"/>
            </a:pPr>
            <a:r>
              <a:t>Protected Area Status</a:t>
            </a:r>
          </a:p>
          <a:p>
            <a:pPr lvl="1">
              <a:defRPr sz="1200"/>
            </a:pPr>
            <a:r>
              <a:t>Climate Variables (Temperature, Precipitation)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Data Processing Workflow:</a:t>
            </a:r>
          </a:p>
          <a:p>
            <a:pPr lvl="1">
              <a:defRPr sz="1400" b="1"/>
            </a:pPr>
            <a:r>
              <a:t>1. Data Acquisition</a:t>
            </a:r>
          </a:p>
          <a:p>
            <a:pPr lvl="2">
              <a:defRPr sz="1100"/>
            </a:pPr>
            <a:r>
              <a:t>Download and filter eBird observations for migratory species during peak migration months (March-May, August-October)</a:t>
            </a:r>
          </a:p>
          <a:p>
            <a:pPr lvl="1">
              <a:defRPr sz="1400" b="1"/>
            </a:pPr>
            <a:r>
              <a:t>2. Stopover Site Identification</a:t>
            </a:r>
          </a:p>
          <a:p>
            <a:pPr lvl="2">
              <a:defRPr sz="1100"/>
            </a:pPr>
            <a:r>
              <a:t>Apply spatial clustering to identify key stopover locations from bird observation density</a:t>
            </a:r>
          </a:p>
          <a:p>
            <a:pPr lvl="1">
              <a:defRPr sz="1400" b="1"/>
            </a:pPr>
            <a:r>
              <a:t>3. NDVI Extraction</a:t>
            </a:r>
          </a:p>
          <a:p>
            <a:pPr lvl="2">
              <a:defRPr sz="1100"/>
            </a:pPr>
            <a:r>
              <a:t>Extract vegetation indices at stopover sites during migration periods using Google Earth Engine</a:t>
            </a:r>
          </a:p>
          <a:p>
            <a:pPr lvl="1">
              <a:defRPr sz="1400" b="1"/>
            </a:pPr>
            <a:r>
              <a:t>4. Quality Index Calculation</a:t>
            </a:r>
          </a:p>
          <a:p>
            <a:pPr lvl="2">
              <a:defRPr sz="1100"/>
            </a:pPr>
            <a:r>
              <a:t>Combine NDVI (food availability) with bird abundance to compute stopover quality metrics</a:t>
            </a:r>
          </a:p>
          <a:p>
            <a:pPr lvl="1">
              <a:defRPr sz="1400" b="1"/>
            </a:pPr>
            <a:r>
              <a:t>5. Temporal Analysis</a:t>
            </a:r>
          </a:p>
          <a:p>
            <a:pPr lvl="2">
              <a:defRPr sz="1100"/>
            </a:pPr>
            <a:r>
              <a:t>Analyze multi-year trends to identify declining stopover zones</a:t>
            </a:r>
          </a:p>
          <a:p>
            <a:pPr lvl="1">
              <a:defRPr sz="1400" b="1"/>
            </a:pPr>
            <a:r>
              <a:t>6. Validation &amp; Reporting</a:t>
            </a:r>
          </a:p>
          <a:p>
            <a:pPr lvl="2">
              <a:defRPr sz="1100"/>
            </a:pPr>
            <a:r>
              <a:t>Cross-reference with Important Bird Areas database and conservation literature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Immediate Next Steps:</a:t>
            </a:r>
          </a:p>
          <a:p>
            <a:pPr lvl="1">
              <a:defRPr sz="1300" b="1"/>
            </a:pPr>
            <a:r>
              <a:t>Week 1-2: Data Download &amp; Setup</a:t>
            </a:r>
          </a:p>
          <a:p>
            <a:pPr lvl="2">
              <a:defRPr sz="1000"/>
            </a:pPr>
            <a:r>
              <a:t>Complete eBird data request and download filtered datasets</a:t>
            </a:r>
          </a:p>
          <a:p>
            <a:pPr lvl="2">
              <a:defRPr sz="1000"/>
            </a:pPr>
            <a:r>
              <a:t>Set up Google Earth Engine authentication</a:t>
            </a:r>
          </a:p>
          <a:p>
            <a:pPr lvl="2">
              <a:defRPr sz="1000"/>
            </a:pPr>
            <a:r>
              <a:t>Download MODIS NDVI data for pilot regions</a:t>
            </a:r>
          </a:p>
          <a:p>
            <a:pPr lvl="1">
              <a:defRPr sz="1300" b="1"/>
            </a:pPr>
            <a:r>
              <a:t>Week 3-4: Data Processing Pipeline</a:t>
            </a:r>
          </a:p>
          <a:p>
            <a:pPr lvl="2">
              <a:defRPr sz="1000"/>
            </a:pPr>
            <a:r>
              <a:t>Develop scripts for eBird data filtering (migration periods)</a:t>
            </a:r>
          </a:p>
          <a:p>
            <a:pPr lvl="2">
              <a:defRPr sz="1000"/>
            </a:pPr>
            <a:r>
              <a:t>Implement stopover site clustering algorithm</a:t>
            </a:r>
          </a:p>
          <a:p>
            <a:pPr lvl="2">
              <a:defRPr sz="1000"/>
            </a:pPr>
            <a:r>
              <a:t>Create NDVI extraction workflow</a:t>
            </a:r>
          </a:p>
          <a:p>
            <a:pPr lvl="1">
              <a:defRPr sz="1300" b="1"/>
            </a:pPr>
            <a:r>
              <a:t>Week 5-6: Analysis &amp; Index Development</a:t>
            </a:r>
          </a:p>
          <a:p>
            <a:pPr lvl="2">
              <a:defRPr sz="1000"/>
            </a:pPr>
            <a:r>
              <a:t>Calculate stopover quality indices</a:t>
            </a:r>
          </a:p>
          <a:p>
            <a:pPr lvl="2">
              <a:defRPr sz="1000"/>
            </a:pPr>
            <a:r>
              <a:t>Perform statistical analysis on trends</a:t>
            </a:r>
          </a:p>
          <a:p>
            <a:pPr lvl="2">
              <a:defRPr sz="1000"/>
            </a:pPr>
            <a:r>
              <a:t>Identify declining zones</a:t>
            </a:r>
          </a:p>
          <a:p>
            <a:pPr lvl="1">
              <a:defRPr sz="1300" b="1"/>
            </a:pPr>
            <a:r>
              <a:t>Week 7-8: Validation &amp; Documentation</a:t>
            </a:r>
          </a:p>
          <a:p>
            <a:pPr lvl="2">
              <a:defRPr sz="1000"/>
            </a:pPr>
            <a:r>
              <a:t>Validate results with known Important Bird Areas</a:t>
            </a:r>
          </a:p>
          <a:p>
            <a:pPr lvl="2">
              <a:defRPr sz="1000"/>
            </a:pPr>
            <a:r>
              <a:t>Document findings and create visualizations</a:t>
            </a:r>
          </a:p>
          <a:p>
            <a:pPr lvl="2">
              <a:defRPr sz="1000"/>
            </a:pPr>
            <a:r>
              <a:t>Prepare final report and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00"/>
                </a:solidFill>
              </a:defRPr>
            </a:pPr>
            <a:r>
              <a:t>Current Status:</a:t>
            </a:r>
          </a:p>
          <a:p>
            <a:pPr lvl="1">
              <a:defRPr sz="1400"/>
            </a:pPr>
            <a:r>
              <a:t>✓ Comprehensive dataset sources identified and documented</a:t>
            </a:r>
          </a:p>
          <a:p>
            <a:pPr lvl="1">
              <a:defRPr sz="1400"/>
            </a:pPr>
            <a:r>
              <a:t>✓ Data access mechanisms configured (eBird, NASA, Google Earth Engine)</a:t>
            </a:r>
          </a:p>
          <a:p>
            <a:pPr lvl="1">
              <a:defRPr sz="1400"/>
            </a:pPr>
            <a:r>
              <a:t>✓ Analysis workflow designed and ready for implementation</a:t>
            </a:r>
          </a:p>
          <a:p>
            <a:pPr lvl="1">
              <a:defRPr sz="1400"/>
            </a:pPr>
            <a:r>
              <a:t>✓ Development environment and tools set up</a:t>
            </a:r>
          </a:p>
          <a:p>
            <a:br/>
            <a:pPr>
              <a:defRPr sz="1800" b="1">
                <a:solidFill>
                  <a:srgbClr val="003366"/>
                </a:solidFill>
              </a:defRPr>
            </a:pPr>
            <a:r>
              <a:t>Expected Deliverables:</a:t>
            </a:r>
          </a:p>
          <a:p>
            <a:pPr lvl="1">
              <a:defRPr sz="1300"/>
            </a:pPr>
            <a:r>
              <a:t>Stopover Quality Index for migratory bird species</a:t>
            </a:r>
          </a:p>
          <a:p>
            <a:pPr lvl="1">
              <a:defRPr sz="1300"/>
            </a:pPr>
            <a:r>
              <a:t>Interactive maps showing critical stopover locations</a:t>
            </a:r>
          </a:p>
          <a:p>
            <a:pPr lvl="1">
              <a:defRPr sz="1300"/>
            </a:pPr>
            <a:r>
              <a:t>Temporal analysis identifying declining zones</a:t>
            </a:r>
          </a:p>
          <a:p>
            <a:pPr lvl="1">
              <a:defRPr sz="1300"/>
            </a:pPr>
            <a:r>
              <a:t>Conservation recommendations for understudied regions</a:t>
            </a:r>
          </a:p>
          <a:p>
            <a:pPr lvl="1">
              <a:defRPr sz="1300"/>
            </a:pPr>
            <a:r>
              <a:t>Complete documentation and reproducible code</a:t>
            </a:r>
          </a:p>
          <a:p>
            <a:br/>
            <a:br/>
            <a:pPr algn="ctr">
              <a:defRPr sz="24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